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28"/>
  </p:notesMasterIdLst>
  <p:sldIdLst>
    <p:sldId id="256" r:id="rId2"/>
    <p:sldId id="273" r:id="rId3"/>
    <p:sldId id="275" r:id="rId4"/>
    <p:sldId id="257" r:id="rId5"/>
    <p:sldId id="261" r:id="rId6"/>
    <p:sldId id="258" r:id="rId7"/>
    <p:sldId id="269" r:id="rId8"/>
    <p:sldId id="270" r:id="rId9"/>
    <p:sldId id="271" r:id="rId10"/>
    <p:sldId id="272" r:id="rId11"/>
    <p:sldId id="259" r:id="rId12"/>
    <p:sldId id="260" r:id="rId13"/>
    <p:sldId id="276" r:id="rId14"/>
    <p:sldId id="277" r:id="rId15"/>
    <p:sldId id="262" r:id="rId16"/>
    <p:sldId id="263" r:id="rId17"/>
    <p:sldId id="278" r:id="rId18"/>
    <p:sldId id="279" r:id="rId19"/>
    <p:sldId id="281" r:id="rId20"/>
    <p:sldId id="284" r:id="rId21"/>
    <p:sldId id="283" r:id="rId22"/>
    <p:sldId id="285" r:id="rId23"/>
    <p:sldId id="264" r:id="rId24"/>
    <p:sldId id="265" r:id="rId25"/>
    <p:sldId id="266" r:id="rId26"/>
    <p:sldId id="28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2A7E8C-B85B-4A6E-AFCB-EC8B40C843A9}" v="76" dt="2026-05-09T11:41:36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outlineViewPr>
    <p:cViewPr>
      <p:scale>
        <a:sx n="33" d="100"/>
        <a:sy n="33" d="100"/>
      </p:scale>
      <p:origin x="0" y="-135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EAB746-9C73-4B01-B4A2-D12B15FF75F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E1BD6-E197-421D-B97F-CAE20D12F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61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E1BD6-E197-421D-B97F-CAE20D12F2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1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5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D27D3-6D3E-464A-8B0E-F7E18A12CF30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3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E2D22-51F8-4558-B7B6-EACC5A403052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67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9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FE2CD-D087-41DD-A107-B7C749AF1C3B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4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5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2160590"/>
            <a:ext cx="4184035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7E8B2-197C-4B69-8757-942B13750E1D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21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6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6" y="2737247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5" y="2737247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B192A-7F6B-47BD-B915-3E3465CFFE41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04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0DABF-DB34-46C3-99CD-C0913B6A062B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90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C40C6-D901-4B00-86C2-50B6AF8DC3E1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1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2" y="514926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51" indent="0">
              <a:buNone/>
              <a:defRPr sz="1400"/>
            </a:lvl2pPr>
            <a:lvl3pPr marL="914104" indent="0">
              <a:buNone/>
              <a:defRPr sz="1200"/>
            </a:lvl3pPr>
            <a:lvl4pPr marL="1371155" indent="0">
              <a:buNone/>
              <a:defRPr sz="1000"/>
            </a:lvl4pPr>
            <a:lvl5pPr marL="1828205" indent="0">
              <a:buNone/>
              <a:defRPr sz="1000"/>
            </a:lvl5pPr>
            <a:lvl6pPr marL="2285258" indent="0">
              <a:buNone/>
              <a:defRPr sz="1000"/>
            </a:lvl6pPr>
            <a:lvl7pPr marL="2742309" indent="0">
              <a:buNone/>
              <a:defRPr sz="1000"/>
            </a:lvl7pPr>
            <a:lvl8pPr marL="3199360" indent="0">
              <a:buNone/>
              <a:defRPr sz="1000"/>
            </a:lvl8pPr>
            <a:lvl9pPr marL="3656411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0DDAF-A47D-4797-8310-1F8E14FA10B2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5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5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5FDE1-FA11-4141-BEBF-5D477C9034DE}" type="datetime1">
              <a:rPr lang="en-US" smtClean="0"/>
              <a:t>5/14/2026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5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D260C-6703-40D9-AD04-861DE3E47A6C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D0E34-71B8-46DC-BE5F-C62DBD301FDD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9908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0CB4B-92D3-4021-AF13-23592E3F3507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4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638F0-A112-4624-B997-7C9BD40D4847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1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0590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4AC4A-C219-40CF-9777-B0C77A1D2985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39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F6587-28D2-42DB-9269-426A4AA79FC7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425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4" y="609601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AB731-516C-4206-961E-57397250D347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24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2160590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4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EBDD6-6C37-452D-A3D1-C46B3C6B72F7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5" y="6041364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4" y="6041364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B6A74C-A862-4EB8-B7E6-C2FCDF2B6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26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hf hdr="0" ftr="0" dt="0"/>
  <p:txStyles>
    <p:titleStyle>
      <a:lvl1pPr algn="l" defTabSz="457189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F789-5ED6-E1B3-860A-780CE0C77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164" y="711200"/>
            <a:ext cx="8520909" cy="1211636"/>
          </a:xfrm>
        </p:spPr>
        <p:txBody>
          <a:bodyPr/>
          <a:lstStyle/>
          <a:p>
            <a:pPr algn="ctr"/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Crab Classification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36574F-2056-6003-D65B-449C6F4F9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5" b="9248"/>
          <a:stretch>
            <a:fillRect/>
          </a:stretch>
        </p:blipFill>
        <p:spPr>
          <a:xfrm>
            <a:off x="803564" y="2522952"/>
            <a:ext cx="4603893" cy="3299350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E2CA3A-0A21-8037-16BA-C7D0F2C9E35A}"/>
              </a:ext>
            </a:extLst>
          </p:cNvPr>
          <p:cNvSpPr txBox="1"/>
          <p:nvPr/>
        </p:nvSpPr>
        <p:spPr>
          <a:xfrm>
            <a:off x="5514392" y="3094593"/>
            <a:ext cx="564672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Priya Tharshini S (960222106080)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		Veena R (960222106100)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Communication 				   Engineering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Dhiepthie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M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Arunachala College of Engineering 			     for women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	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15 May 2026</a:t>
            </a:r>
          </a:p>
          <a:p>
            <a:pPr algn="just"/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just"/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flipH="1">
            <a:off x="8373581" y="6172359"/>
            <a:ext cx="811951" cy="244764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1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665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7F7D-90D6-B417-979A-7A624B7E7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3254" y="773441"/>
            <a:ext cx="4090087" cy="153727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7917F-0800-0731-BB5B-A5086623A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254" y="1987257"/>
            <a:ext cx="9910577" cy="3869846"/>
          </a:xfrm>
        </p:spPr>
        <p:txBody>
          <a:bodyPr>
            <a:normAutofit fontScale="25000" lnSpcReduction="20000"/>
          </a:bodyPr>
          <a:lstStyle/>
          <a:p>
            <a:pPr marL="685800" indent="-6858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Crabs are important in marine ecosystems, fisheries, and aquaculture.</a:t>
            </a:r>
          </a:p>
          <a:p>
            <a:pPr marL="685800" indent="-6858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crab classification is useful for biological studies and resource management.</a:t>
            </a:r>
          </a:p>
          <a:p>
            <a:pPr marL="685800" indent="-6858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identification is time-consuming and depends on expert knowledge.</a:t>
            </a:r>
          </a:p>
          <a:p>
            <a:pPr marL="685800" indent="-6858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provides a faster and more consistent classification method.</a:t>
            </a:r>
          </a:p>
          <a:p>
            <a:pPr marL="685800" indent="-6858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work uses physical measurements instead of images for classification.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4AF83-F6E6-0885-3463-99598090C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76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060C7-4220-5743-85B7-45BBC838D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595" y="738834"/>
            <a:ext cx="6259869" cy="164630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B2C2E-F1F1-C55D-EA65-6D5795CEBA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8082" y="1900761"/>
            <a:ext cx="9799366" cy="3808062"/>
          </a:xfrm>
        </p:spPr>
        <p:txBody>
          <a:bodyPr>
            <a:noAutofit/>
          </a:bodyPr>
          <a:lstStyle/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crab sex identification is slow and labor-intensive.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morphological differences may lead to misclassification.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accuracy is affected by human observation errors.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Image-based methods require more data and higher computation.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simple feature-based automated system is needed.</a:t>
            </a:r>
          </a:p>
          <a:p>
            <a:pPr algn="l">
              <a:buClr>
                <a:schemeClr val="tx1"/>
              </a:buClr>
              <a:buSzPct val="100000"/>
            </a:pP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FFED36-172F-BB8C-2B50-A962E548F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03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0D85-0F30-A173-0C8A-FF6177403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401" y="788357"/>
            <a:ext cx="3203953" cy="173643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07802-B9F2-6B56-8941-47A6CD59A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9305" y="1985920"/>
            <a:ext cx="7774585" cy="3240276"/>
          </a:xfrm>
        </p:spPr>
        <p:txBody>
          <a:bodyPr>
            <a:noAutofit/>
          </a:bodyPr>
          <a:lstStyle/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Automation – crab sex classification</a:t>
            </a:r>
          </a:p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– classification model</a:t>
            </a:r>
          </a:p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Marine dataset – crab features</a:t>
            </a:r>
          </a:p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improvement – classification performance</a:t>
            </a:r>
          </a:p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– marine species identification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11796" y="6032042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4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54687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0FBB-127C-E1F5-2725-69A0A09A5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124" y="610681"/>
            <a:ext cx="3323968" cy="1376218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FB794-19B7-C949-01B4-CD2BDF9E9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1756" y="1390261"/>
            <a:ext cx="8103964" cy="4315674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Crab physical features – input dataset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– classification model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Sex identification – male / female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– biological data analysis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– validation to prevent overfitting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results – reliable classification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– image-based classification integration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470779" y="6050694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3423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4914-3314-48D1-0098-5AFE384842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4707" y="111213"/>
            <a:ext cx="5877888" cy="1364869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sz="4800" b="1" dirty="0"/>
            </a:br>
            <a:endParaRPr 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7A79B7-D28F-CA9B-7370-B2B7DE6F8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3879" y="1342326"/>
            <a:ext cx="8492339" cy="3716593"/>
          </a:xfrm>
        </p:spPr>
        <p:txBody>
          <a:bodyPr>
            <a:noAutofit/>
          </a:bodyPr>
          <a:lstStyle/>
          <a:p>
            <a:pPr algn="l"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100" dirty="0"/>
              <a:t>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5D73C9-5287-4323-1288-BE6D78531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680028"/>
              </p:ext>
            </p:extLst>
          </p:nvPr>
        </p:nvGraphicFramePr>
        <p:xfrm>
          <a:off x="844583" y="861306"/>
          <a:ext cx="10157712" cy="5273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92952">
                  <a:extLst>
                    <a:ext uri="{9D8B030D-6E8A-4147-A177-3AD203B41FA5}">
                      <a16:colId xmlns:a16="http://schemas.microsoft.com/office/drawing/2014/main" val="3522303675"/>
                    </a:ext>
                  </a:extLst>
                </a:gridCol>
                <a:gridCol w="1692952">
                  <a:extLst>
                    <a:ext uri="{9D8B030D-6E8A-4147-A177-3AD203B41FA5}">
                      <a16:colId xmlns:a16="http://schemas.microsoft.com/office/drawing/2014/main" val="646380860"/>
                    </a:ext>
                  </a:extLst>
                </a:gridCol>
                <a:gridCol w="1692952">
                  <a:extLst>
                    <a:ext uri="{9D8B030D-6E8A-4147-A177-3AD203B41FA5}">
                      <a16:colId xmlns:a16="http://schemas.microsoft.com/office/drawing/2014/main" val="1616227927"/>
                    </a:ext>
                  </a:extLst>
                </a:gridCol>
                <a:gridCol w="1692952">
                  <a:extLst>
                    <a:ext uri="{9D8B030D-6E8A-4147-A177-3AD203B41FA5}">
                      <a16:colId xmlns:a16="http://schemas.microsoft.com/office/drawing/2014/main" val="1235291119"/>
                    </a:ext>
                  </a:extLst>
                </a:gridCol>
                <a:gridCol w="1692952">
                  <a:extLst>
                    <a:ext uri="{9D8B030D-6E8A-4147-A177-3AD203B41FA5}">
                      <a16:colId xmlns:a16="http://schemas.microsoft.com/office/drawing/2014/main" val="1957291851"/>
                    </a:ext>
                  </a:extLst>
                </a:gridCol>
                <a:gridCol w="1692952">
                  <a:extLst>
                    <a:ext uri="{9D8B030D-6E8A-4147-A177-3AD203B41FA5}">
                      <a16:colId xmlns:a16="http://schemas.microsoft.com/office/drawing/2014/main" val="2556934120"/>
                    </a:ext>
                  </a:extLst>
                </a:gridCol>
              </a:tblGrid>
              <a:tr h="843574"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Source/Year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and        Algorithms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Demerits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86512"/>
                  </a:ext>
                </a:extLst>
              </a:tr>
              <a:tr h="177753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Crabs Classification Using Machine Learning Algorithms: SVM, Random Forest, and CNN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S.K., Vishwakarma M.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TIJER, 2024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 Random Forest, CNN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accuracy, compares multiple methods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extensive dataset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0866"/>
                  </a:ext>
                </a:extLst>
              </a:tr>
              <a:tr h="129548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with Multistage Classifiers for Mud Crab Species Classification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 R.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TELKOMNIKA, 2021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Multistage classifiers (KNN, SVM, LDA)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classification on complex data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intensive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408145720"/>
                  </a:ext>
                </a:extLst>
              </a:tr>
              <a:tr h="1295488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Crab Molting Identification Using Machine Learning Classifiers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 Y.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Journal, 2023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KNN, SVM, Random Forest classifiers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molting phase detection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large labeled 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642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6453" y="6250241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21539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155AF-FB85-6A91-CDA3-06A7BAE8C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9E7B-DFD2-FAF4-2C50-3E43C099C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1640" y="-200778"/>
            <a:ext cx="5818023" cy="164196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D4FFE-C38F-FF54-5A9A-1A0055D1F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3879" y="1342326"/>
            <a:ext cx="8492339" cy="3716593"/>
          </a:xfrm>
        </p:spPr>
        <p:txBody>
          <a:bodyPr>
            <a:noAutofit/>
          </a:bodyPr>
          <a:lstStyle/>
          <a:p>
            <a:pPr algn="l"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100" dirty="0"/>
              <a:t>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57F2E9F-BDC8-17C8-8369-6ED0B293A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04612"/>
              </p:ext>
            </p:extLst>
          </p:nvPr>
        </p:nvGraphicFramePr>
        <p:xfrm>
          <a:off x="629265" y="903303"/>
          <a:ext cx="10158984" cy="5276088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93164">
                  <a:extLst>
                    <a:ext uri="{9D8B030D-6E8A-4147-A177-3AD203B41FA5}">
                      <a16:colId xmlns:a16="http://schemas.microsoft.com/office/drawing/2014/main" val="3522303675"/>
                    </a:ext>
                  </a:extLst>
                </a:gridCol>
                <a:gridCol w="1693164">
                  <a:extLst>
                    <a:ext uri="{9D8B030D-6E8A-4147-A177-3AD203B41FA5}">
                      <a16:colId xmlns:a16="http://schemas.microsoft.com/office/drawing/2014/main" val="646380860"/>
                    </a:ext>
                  </a:extLst>
                </a:gridCol>
                <a:gridCol w="1693164">
                  <a:extLst>
                    <a:ext uri="{9D8B030D-6E8A-4147-A177-3AD203B41FA5}">
                      <a16:colId xmlns:a16="http://schemas.microsoft.com/office/drawing/2014/main" val="1616227927"/>
                    </a:ext>
                  </a:extLst>
                </a:gridCol>
                <a:gridCol w="1693164">
                  <a:extLst>
                    <a:ext uri="{9D8B030D-6E8A-4147-A177-3AD203B41FA5}">
                      <a16:colId xmlns:a16="http://schemas.microsoft.com/office/drawing/2014/main" val="1235291119"/>
                    </a:ext>
                  </a:extLst>
                </a:gridCol>
                <a:gridCol w="1693164">
                  <a:extLst>
                    <a:ext uri="{9D8B030D-6E8A-4147-A177-3AD203B41FA5}">
                      <a16:colId xmlns:a16="http://schemas.microsoft.com/office/drawing/2014/main" val="1957291851"/>
                    </a:ext>
                  </a:extLst>
                </a:gridCol>
                <a:gridCol w="1693164">
                  <a:extLst>
                    <a:ext uri="{9D8B030D-6E8A-4147-A177-3AD203B41FA5}">
                      <a16:colId xmlns:a16="http://schemas.microsoft.com/office/drawing/2014/main" val="2556934120"/>
                    </a:ext>
                  </a:extLst>
                </a:gridCol>
              </a:tblGrid>
              <a:tr h="875141"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Source/Year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and        Algorithms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Demerits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86512"/>
                  </a:ext>
                </a:extLst>
              </a:tr>
              <a:tr h="1746407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Grading of River Crabs Based on Machine Vision and Genetic Algorithm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H.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Journal, 2023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Genetic algorithm optimized feature selection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grading accuracy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feature engineering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0866"/>
                  </a:ext>
                </a:extLst>
              </a:tr>
              <a:tr h="153683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 Identification of the Horsehair Crab Using Machine Learning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Ueki Y., et al.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Reports, 2023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 Random Forest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gender prediction accuracy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training dataset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408145720"/>
                  </a:ext>
                </a:extLst>
              </a:tr>
              <a:tr h="111770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Part-based Deep Learning Network for Identifying Individual Crabs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Wu C., et al.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Frontiers in Marine Science, 2023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(nontraditional approach)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pose variation effectively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annotated image data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642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3241" y="6231733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7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6123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80D5F-EFCA-071C-1FC3-4BFA618BF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6C13-3E6E-B1CC-419E-7FA57C63D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6266" y="-87063"/>
            <a:ext cx="5746965" cy="165331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B52A0-AE3F-3BC3-7BA9-26256ED6A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3879" y="1342326"/>
            <a:ext cx="8492339" cy="3716593"/>
          </a:xfrm>
        </p:spPr>
        <p:txBody>
          <a:bodyPr>
            <a:noAutofit/>
          </a:bodyPr>
          <a:lstStyle/>
          <a:p>
            <a:pPr algn="l"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100" dirty="0"/>
              <a:t>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3A471BE-1583-BEEF-65E2-9576AA29E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363025"/>
              </p:ext>
            </p:extLst>
          </p:nvPr>
        </p:nvGraphicFramePr>
        <p:xfrm>
          <a:off x="747252" y="836202"/>
          <a:ext cx="10245216" cy="5278492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707536">
                  <a:extLst>
                    <a:ext uri="{9D8B030D-6E8A-4147-A177-3AD203B41FA5}">
                      <a16:colId xmlns:a16="http://schemas.microsoft.com/office/drawing/2014/main" val="3522303675"/>
                    </a:ext>
                  </a:extLst>
                </a:gridCol>
                <a:gridCol w="1707536">
                  <a:extLst>
                    <a:ext uri="{9D8B030D-6E8A-4147-A177-3AD203B41FA5}">
                      <a16:colId xmlns:a16="http://schemas.microsoft.com/office/drawing/2014/main" val="646380860"/>
                    </a:ext>
                  </a:extLst>
                </a:gridCol>
                <a:gridCol w="1707536">
                  <a:extLst>
                    <a:ext uri="{9D8B030D-6E8A-4147-A177-3AD203B41FA5}">
                      <a16:colId xmlns:a16="http://schemas.microsoft.com/office/drawing/2014/main" val="1616227927"/>
                    </a:ext>
                  </a:extLst>
                </a:gridCol>
                <a:gridCol w="1707536">
                  <a:extLst>
                    <a:ext uri="{9D8B030D-6E8A-4147-A177-3AD203B41FA5}">
                      <a16:colId xmlns:a16="http://schemas.microsoft.com/office/drawing/2014/main" val="1235291119"/>
                    </a:ext>
                  </a:extLst>
                </a:gridCol>
                <a:gridCol w="1707536">
                  <a:extLst>
                    <a:ext uri="{9D8B030D-6E8A-4147-A177-3AD203B41FA5}">
                      <a16:colId xmlns:a16="http://schemas.microsoft.com/office/drawing/2014/main" val="1957291851"/>
                    </a:ext>
                  </a:extLst>
                </a:gridCol>
                <a:gridCol w="1707536">
                  <a:extLst>
                    <a:ext uri="{9D8B030D-6E8A-4147-A177-3AD203B41FA5}">
                      <a16:colId xmlns:a16="http://schemas.microsoft.com/office/drawing/2014/main" val="2556934120"/>
                    </a:ext>
                  </a:extLst>
                </a:gridCol>
              </a:tblGrid>
              <a:tr h="824521"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Source/Year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and        Algorithms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Demerits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86512"/>
                  </a:ext>
                </a:extLst>
              </a:tr>
              <a:tr h="1656602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Models for Predicting Crab Weight Based on Genetic Programming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 T., et al.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(TBD), 2024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Genetic programming with ML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Interpretable and accurate results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 demand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0866"/>
                  </a:ext>
                </a:extLst>
              </a:tr>
              <a:tr h="145781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Sensing for Marine Species Including Crabs Using Machine Learning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X., et al.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Remote Sensing Letters, 2023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 Random Forest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Non-invasive species identification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variability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408145720"/>
                  </a:ext>
                </a:extLst>
              </a:tr>
              <a:tr h="1266229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Review of Machine Learning Approaches in Marine Biology Classification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R., Kumar P.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fr-FR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Int. J. Computer Science, 2024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of ML techniques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Comprehensive literature overview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crab-specific detail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642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58244" y="6171992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8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06524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8CA9-5564-4E7D-E3D1-4862E87EC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7CB1F-D688-7282-623B-8C0FB323F7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2211" y="50234"/>
            <a:ext cx="5879807" cy="158865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9F762-7461-77BE-AC29-D2F6C98DA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3879" y="1342326"/>
            <a:ext cx="8492339" cy="3716593"/>
          </a:xfrm>
        </p:spPr>
        <p:txBody>
          <a:bodyPr>
            <a:noAutofit/>
          </a:bodyPr>
          <a:lstStyle/>
          <a:p>
            <a:pPr algn="l"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100" dirty="0"/>
              <a:t>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6CB4BF-3B16-73CF-1A6C-F5EF51461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829561"/>
              </p:ext>
            </p:extLst>
          </p:nvPr>
        </p:nvGraphicFramePr>
        <p:xfrm>
          <a:off x="757084" y="816077"/>
          <a:ext cx="10158984" cy="53248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93164">
                  <a:extLst>
                    <a:ext uri="{9D8B030D-6E8A-4147-A177-3AD203B41FA5}">
                      <a16:colId xmlns:a16="http://schemas.microsoft.com/office/drawing/2014/main" val="3522303675"/>
                    </a:ext>
                  </a:extLst>
                </a:gridCol>
                <a:gridCol w="1693164">
                  <a:extLst>
                    <a:ext uri="{9D8B030D-6E8A-4147-A177-3AD203B41FA5}">
                      <a16:colId xmlns:a16="http://schemas.microsoft.com/office/drawing/2014/main" val="646380860"/>
                    </a:ext>
                  </a:extLst>
                </a:gridCol>
                <a:gridCol w="1693164">
                  <a:extLst>
                    <a:ext uri="{9D8B030D-6E8A-4147-A177-3AD203B41FA5}">
                      <a16:colId xmlns:a16="http://schemas.microsoft.com/office/drawing/2014/main" val="1616227927"/>
                    </a:ext>
                  </a:extLst>
                </a:gridCol>
                <a:gridCol w="1693164">
                  <a:extLst>
                    <a:ext uri="{9D8B030D-6E8A-4147-A177-3AD203B41FA5}">
                      <a16:colId xmlns:a16="http://schemas.microsoft.com/office/drawing/2014/main" val="1235291119"/>
                    </a:ext>
                  </a:extLst>
                </a:gridCol>
                <a:gridCol w="1693164">
                  <a:extLst>
                    <a:ext uri="{9D8B030D-6E8A-4147-A177-3AD203B41FA5}">
                      <a16:colId xmlns:a16="http://schemas.microsoft.com/office/drawing/2014/main" val="1957291851"/>
                    </a:ext>
                  </a:extLst>
                </a:gridCol>
                <a:gridCol w="1693164">
                  <a:extLst>
                    <a:ext uri="{9D8B030D-6E8A-4147-A177-3AD203B41FA5}">
                      <a16:colId xmlns:a16="http://schemas.microsoft.com/office/drawing/2014/main" val="2556934120"/>
                    </a:ext>
                  </a:extLst>
                </a:gridCol>
              </a:tblGrid>
              <a:tr h="774959"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Source/Year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and        Algorithms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Demerits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86512"/>
                  </a:ext>
                </a:extLst>
              </a:tr>
              <a:tr h="160632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Robust Detector for Underwater Live Crabs Based on Deep CNN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Cao S., et al.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ScienceDirect, 2022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CNN with feature extraction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High-speed, reliable detection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environmental noise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0866"/>
                  </a:ext>
                </a:extLst>
              </a:tr>
              <a:tr h="1413561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Neuro-Fuzzy Inference System (ANFIS) Model for Biological Applications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Hossen M., et al.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 Journal, 2022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ANFIS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nonlinear and fuzzy data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tuning complexity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408145720"/>
                  </a:ext>
                </a:extLst>
              </a:tr>
              <a:tr h="1190115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 of Crab Species Using Machine Vision and Traditional ML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Omkar Singh et al.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TIJER, 2024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SVM, Random Forest, image feature extraction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species classification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 extraction dependent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642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50709" y="6209315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9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81524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3832-6B3C-FC96-BB2A-AE500AE00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6DDFD-F2D9-3AAE-DD27-2E1DADA69D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4983" y="49428"/>
            <a:ext cx="5676397" cy="14295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DC718-648F-A673-47B5-A3B38C355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3879" y="1342326"/>
            <a:ext cx="8492339" cy="3716593"/>
          </a:xfrm>
        </p:spPr>
        <p:txBody>
          <a:bodyPr>
            <a:noAutofit/>
          </a:bodyPr>
          <a:lstStyle/>
          <a:p>
            <a:pPr algn="l">
              <a:buClr>
                <a:schemeClr val="tx1">
                  <a:lumMod val="50000"/>
                  <a:lumOff val="50000"/>
                </a:schemeClr>
              </a:buClr>
            </a:pPr>
            <a:r>
              <a:rPr lang="en-US" sz="100" dirty="0"/>
              <a:t>a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47903C-3617-A49C-8B66-E0EB4CB39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606483"/>
              </p:ext>
            </p:extLst>
          </p:nvPr>
        </p:nvGraphicFramePr>
        <p:xfrm>
          <a:off x="669095" y="714762"/>
          <a:ext cx="10519026" cy="55168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753171">
                  <a:extLst>
                    <a:ext uri="{9D8B030D-6E8A-4147-A177-3AD203B41FA5}">
                      <a16:colId xmlns:a16="http://schemas.microsoft.com/office/drawing/2014/main" val="3522303675"/>
                    </a:ext>
                  </a:extLst>
                </a:gridCol>
                <a:gridCol w="1753171">
                  <a:extLst>
                    <a:ext uri="{9D8B030D-6E8A-4147-A177-3AD203B41FA5}">
                      <a16:colId xmlns:a16="http://schemas.microsoft.com/office/drawing/2014/main" val="646380860"/>
                    </a:ext>
                  </a:extLst>
                </a:gridCol>
                <a:gridCol w="1753171">
                  <a:extLst>
                    <a:ext uri="{9D8B030D-6E8A-4147-A177-3AD203B41FA5}">
                      <a16:colId xmlns:a16="http://schemas.microsoft.com/office/drawing/2014/main" val="1616227927"/>
                    </a:ext>
                  </a:extLst>
                </a:gridCol>
                <a:gridCol w="1753171">
                  <a:extLst>
                    <a:ext uri="{9D8B030D-6E8A-4147-A177-3AD203B41FA5}">
                      <a16:colId xmlns:a16="http://schemas.microsoft.com/office/drawing/2014/main" val="1235291119"/>
                    </a:ext>
                  </a:extLst>
                </a:gridCol>
                <a:gridCol w="1753171">
                  <a:extLst>
                    <a:ext uri="{9D8B030D-6E8A-4147-A177-3AD203B41FA5}">
                      <a16:colId xmlns:a16="http://schemas.microsoft.com/office/drawing/2014/main" val="1957291851"/>
                    </a:ext>
                  </a:extLst>
                </a:gridCol>
                <a:gridCol w="1753171">
                  <a:extLst>
                    <a:ext uri="{9D8B030D-6E8A-4147-A177-3AD203B41FA5}">
                      <a16:colId xmlns:a16="http://schemas.microsoft.com/office/drawing/2014/main" val="2556934120"/>
                    </a:ext>
                  </a:extLst>
                </a:gridCol>
              </a:tblGrid>
              <a:tr h="813211"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Source/Year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Methods and        Algorithms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Merits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 fontAlgn="t" latinLnBrk="0">
                        <a:lnSpc>
                          <a:spcPct val="200000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Demerits</a:t>
                      </a:r>
                    </a:p>
                  </a:txBody>
                  <a:tcPr marL="60960" marR="60960" marT="60960" marB="6096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86512"/>
                  </a:ext>
                </a:extLst>
              </a:tr>
              <a:tr h="1481206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of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Portunid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Crabs Through Random Forest and Generalized Additive Models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Luan J., et al.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Marine Ecology, 2018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GAM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Detailed spatial modeling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deep learning based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80866"/>
                  </a:ext>
                </a:extLst>
              </a:tr>
              <a:tr h="1481206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Framework for Fish and Crab Species Classification Using Random Forest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Adhikari N., et al.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International J. CS, 2023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in multi-species classification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diverse dataset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408145720"/>
                  </a:ext>
                </a:extLst>
              </a:tr>
              <a:tr h="1481206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Multi-feature Crab Classification using Genetic Programming and Machine Learning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Jin Y., et al.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Journal, 2025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Genetic programming with feature learning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 classification, scalable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intensive</a:t>
                      </a:r>
                    </a:p>
                  </a:txBody>
                  <a:tcPr marL="60960" marR="60960" anchor="ctr">
                    <a:solidFill>
                      <a:schemeClr val="bg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642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 flipH="1">
            <a:off x="8460034" y="6231642"/>
            <a:ext cx="537787" cy="415420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10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53351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BA36-82FB-5CBB-455D-D622CDABB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78" y="716707"/>
            <a:ext cx="9487658" cy="1387624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 of Existing Systems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492DE-1B7B-8506-FC51-9614C6152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5770" y="2279037"/>
            <a:ext cx="7752598" cy="2969342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Manual classification – slow, expert dependent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 – difficulty with nonlinear data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methods – high dataset and computing requirements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46905" y="6095152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11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13473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FEC4B-ECF9-22B3-1A85-16E3E689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569" y="431773"/>
            <a:ext cx="8369435" cy="1112108"/>
          </a:xfrm>
        </p:spPr>
        <p:txBody>
          <a:bodyPr>
            <a:normAutofit/>
          </a:bodyPr>
          <a:lstStyle/>
          <a:p>
            <a:r>
              <a:rPr lang="en-US" dirty="0"/>
              <a:t> 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D5A08-3C74-79B6-4058-78645095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5890" y="2094695"/>
            <a:ext cx="8091747" cy="4034206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Crab dataset – six physical measurements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Sex encoding – binary vector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Feedforward neural network – one hidden layer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split – training / testing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– validation and evaluation</a:t>
            </a:r>
          </a:p>
          <a:p>
            <a:pPr marL="342900" indent="-3429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93658" y="6079764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12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52342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DE2F-3172-20A8-298B-7BE211F2F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65" y="609752"/>
            <a:ext cx="8596668" cy="860400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Input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1FEE5-3AE7-AA68-7675-E93C03859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9248" y="1945342"/>
            <a:ext cx="8973293" cy="3423124"/>
          </a:xfrm>
        </p:spPr>
        <p:txBody>
          <a:bodyPr>
            <a:normAutofit/>
          </a:bodyPr>
          <a:lstStyle/>
          <a:p>
            <a:pPr marL="457200" indent="-4572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Crab measurement dataset</a:t>
            </a:r>
          </a:p>
          <a:p>
            <a:pPr marL="457200" indent="-4572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Six input features -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species, front lip size, rear width, body length, body width, and body depth</a:t>
            </a:r>
          </a:p>
          <a:p>
            <a:pPr marL="457200" indent="-4572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Male/Female output</a:t>
            </a:r>
          </a:p>
          <a:p>
            <a:pPr marL="457200" indent="-4572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data</a:t>
            </a:r>
          </a:p>
          <a:p>
            <a:pPr marL="457200" indent="-4572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and test split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4DCC0-02E2-EBD5-9DA9-4D1C7C12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98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B81AA-B370-5562-7D1E-A1888457F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345" y="785144"/>
            <a:ext cx="9119287" cy="924576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7F067-9552-4969-A668-D0CDA9014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1922" y="2008935"/>
            <a:ext cx="9688155" cy="4478834"/>
          </a:xfrm>
        </p:spPr>
        <p:txBody>
          <a:bodyPr>
            <a:noAutofit/>
          </a:bodyPr>
          <a:lstStyle/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Feedforward Artificial Neural Network is used.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layer contains 6 neurons for crab features.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layer contains 10 neurons with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activation.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 has 2 neurons with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activation.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network is trained using backpropagation to classify male and female crabs.</a:t>
            </a:r>
          </a:p>
          <a:p>
            <a:pPr algn="l">
              <a:buClr>
                <a:schemeClr val="tx1"/>
              </a:buClr>
              <a:buSzPct val="100000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62E2F-97B0-8511-7A2F-0B80B688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335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9A938BE-1506-F701-3599-887CAB56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979" y="605168"/>
            <a:ext cx="5043843" cy="864984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US" sz="5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AB6CF0D-CA6A-B1FF-1D46-5256971CE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0545" y="2032000"/>
            <a:ext cx="2259422" cy="2642637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50000"/>
                  <a:lumOff val="50000"/>
                </a:schemeClr>
              </a:buClr>
              <a:buSzPct val="100000"/>
            </a:pPr>
            <a:endParaRPr lang="en-US" sz="2200" dirty="0"/>
          </a:p>
        </p:txBody>
      </p:sp>
      <p:pic>
        <p:nvPicPr>
          <p:cNvPr id="1026" name="Picture 2" descr="Black and white block diagram of crab sex classification neural network system">
            <a:extLst>
              <a:ext uri="{FF2B5EF4-FFF2-40B4-BE49-F238E27FC236}">
                <a16:creationId xmlns:a16="http://schemas.microsoft.com/office/drawing/2014/main" id="{AB854B31-A9BB-B120-7EF7-F6BD977ED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738" y="1470152"/>
            <a:ext cx="8108303" cy="4692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502652" y="6088018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15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80340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9BF6F-BCFF-0CBA-246F-5B434870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447" y="538868"/>
            <a:ext cx="9348943" cy="1043850"/>
          </a:xfrm>
        </p:spPr>
        <p:txBody>
          <a:bodyPr>
            <a:normAutofit fontScale="90000"/>
          </a:bodyPr>
          <a:lstStyle/>
          <a:p>
            <a:r>
              <a:rPr lang="en-US" dirty="0"/>
              <a:t>  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Block Diagram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9C804-CAA4-8ABD-5AE6-54808A7F2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5307" y="1903795"/>
            <a:ext cx="8917858" cy="3844183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data – crab physical measurements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– feature preparation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model – classification process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validation – model optimization</a:t>
            </a:r>
          </a:p>
          <a:p>
            <a:pPr marL="457200" indent="-457200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– male / female identification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11559" y="6136569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16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85963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406D2-3FF3-0E2C-C951-39981FEBDB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8780" y="-17238"/>
            <a:ext cx="6938576" cy="93693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C294B-DE83-2531-6BDF-1851E058D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0420" y="5376397"/>
            <a:ext cx="7766936" cy="1695057"/>
          </a:xfrm>
        </p:spPr>
        <p:txBody>
          <a:bodyPr>
            <a:noAutofit/>
          </a:bodyPr>
          <a:lstStyle/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curve measures classified performance.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Curve near top-left indicates better accuracy.</a:t>
            </a:r>
          </a:p>
          <a:p>
            <a:pPr marL="457200" indent="-457200" algn="l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DAE6D-4D35-FA3B-DEE6-2F60B4E9E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2D78A8-6989-0C48-8B42-77D3C51D0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3" t="11171" r="29539" b="11908"/>
          <a:stretch>
            <a:fillRect/>
          </a:stretch>
        </p:blipFill>
        <p:spPr>
          <a:xfrm>
            <a:off x="2954394" y="1632510"/>
            <a:ext cx="4188941" cy="35771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261EB7-BE37-F1B6-10E2-758F7A2C123C}"/>
              </a:ext>
            </a:extLst>
          </p:cNvPr>
          <p:cNvSpPr txBox="1"/>
          <p:nvPr/>
        </p:nvSpPr>
        <p:spPr>
          <a:xfrm>
            <a:off x="911462" y="991342"/>
            <a:ext cx="38341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 curve image</a:t>
            </a:r>
          </a:p>
        </p:txBody>
      </p:sp>
    </p:spTree>
    <p:extLst>
      <p:ext uri="{BB962C8B-B14F-4D97-AF65-F5344CB8AC3E}">
        <p14:creationId xmlns:p14="http://schemas.microsoft.com/office/powerpoint/2010/main" val="2956012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07A6-C4E5-FC51-FA55-210987211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697" y="428559"/>
            <a:ext cx="4027990" cy="621836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image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AEE47-DA05-A855-D405-6CF242966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736" y="4944465"/>
            <a:ext cx="9083768" cy="1096899"/>
          </a:xfrm>
        </p:spPr>
        <p:txBody>
          <a:bodyPr>
            <a:noAutofit/>
          </a:bodyPr>
          <a:lstStyle/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shows how many crabs were classified correctly and incorrectly.</a:t>
            </a:r>
          </a:p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helps measure the model’s accuracy and performance.</a:t>
            </a:r>
          </a:p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9EFED-EFBB-3AF7-D3F2-6D60240C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4" y="6209315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6B6026-E55F-BF3C-964E-D7AE5584C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3" t="11309" r="7170" b="3966"/>
          <a:stretch>
            <a:fillRect/>
          </a:stretch>
        </p:blipFill>
        <p:spPr>
          <a:xfrm>
            <a:off x="3090440" y="1220145"/>
            <a:ext cx="3495555" cy="347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84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26375C-672B-201C-54FE-BA821CA0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AEC8A6-8495-B08B-BE78-B4E8D5606840}"/>
              </a:ext>
            </a:extLst>
          </p:cNvPr>
          <p:cNvSpPr txBox="1"/>
          <p:nvPr/>
        </p:nvSpPr>
        <p:spPr>
          <a:xfrm>
            <a:off x="568411" y="580767"/>
            <a:ext cx="23391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540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565C00-D896-586D-ADB7-598E54AFD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37" t="18370" r="31554" b="50001"/>
          <a:stretch>
            <a:fillRect/>
          </a:stretch>
        </p:blipFill>
        <p:spPr>
          <a:xfrm>
            <a:off x="694038" y="1939735"/>
            <a:ext cx="4013886" cy="32995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5F9FFF-72ED-6BDF-6F27-7F4A1E23B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33" t="18370" r="29986" b="53254"/>
          <a:stretch>
            <a:fillRect/>
          </a:stretch>
        </p:blipFill>
        <p:spPr>
          <a:xfrm>
            <a:off x="5307177" y="1939736"/>
            <a:ext cx="4013886" cy="279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21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E6BB7-3580-EFDF-26FC-342F860D4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485" y="451511"/>
            <a:ext cx="3859792" cy="98278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D8040-49A3-1310-3037-C8693EA0B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4877" y="1796884"/>
            <a:ext cx="9092754" cy="4609605"/>
          </a:xfrm>
        </p:spPr>
        <p:txBody>
          <a:bodyPr>
            <a:normAutofit/>
          </a:bodyPr>
          <a:lstStyle/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than manual classification methods. </a:t>
            </a:r>
          </a:p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human observation errors. </a:t>
            </a:r>
          </a:p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accurate prediction results. </a:t>
            </a:r>
          </a:p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less computation than image-based systems. </a:t>
            </a:r>
          </a:p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biological and marine applications. </a:t>
            </a:r>
          </a:p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scale for future research.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3976C-8473-00D7-DD90-23778003E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21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65B6-6C34-6F0E-1A4B-774DF14A0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1405" y="531340"/>
            <a:ext cx="3664035" cy="82572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8D25B2-6EF5-B743-C8FC-1AD3D7406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750" y="1648326"/>
            <a:ext cx="8864155" cy="3945058"/>
          </a:xfrm>
        </p:spPr>
        <p:txBody>
          <a:bodyPr>
            <a:noAutofit/>
          </a:bodyPr>
          <a:lstStyle/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network-based crab classification was successfully implemented. </a:t>
            </a:r>
          </a:p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measurement data improved prediction efficiency. </a:t>
            </a:r>
          </a:p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 model achieved reliable and accurate results. </a:t>
            </a:r>
          </a:p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reduced time and manual effort. </a:t>
            </a:r>
          </a:p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can support future marine biological studies. </a:t>
            </a:r>
          </a:p>
          <a:p>
            <a:pPr marL="285750" indent="-28575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0FFE-DF1C-A05B-68E5-0907D2E2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848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3FC05-A88B-EA80-D43A-BBAAB233F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077" y="685798"/>
            <a:ext cx="4316217" cy="946689"/>
          </a:xfrm>
        </p:spPr>
        <p:txBody>
          <a:bodyPr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388DB-EB6B-9D1C-60D3-54294703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A74C-A862-4EB8-B7E6-C2FCDF2B6634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B7C1E06-0449-508B-37FB-54B58D02E0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80670" y="1916119"/>
            <a:ext cx="6951663" cy="2759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deep learning models </a:t>
            </a:r>
          </a:p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IoT-based marine monitoring </a:t>
            </a:r>
          </a:p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Cloud-based classification system </a:t>
            </a:r>
          </a:p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Underwater robotic detection </a:t>
            </a:r>
          </a:p>
          <a:p>
            <a:pPr marL="457200" indent="-457200" algn="l">
              <a:buClr>
                <a:schemeClr val="tx1">
                  <a:lumMod val="95000"/>
                  <a:lumOff val="5000"/>
                </a:schemeClr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neural network accuracy </a:t>
            </a:r>
          </a:p>
        </p:txBody>
      </p:sp>
    </p:spTree>
    <p:extLst>
      <p:ext uri="{BB962C8B-B14F-4D97-AF65-F5344CB8AC3E}">
        <p14:creationId xmlns:p14="http://schemas.microsoft.com/office/powerpoint/2010/main" val="991733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062D4-4290-06DD-3CCB-5C677DE6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060" y="164462"/>
            <a:ext cx="3727561" cy="148705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69A77-C476-A143-FEEA-67375C73F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455" y="1287625"/>
            <a:ext cx="10640667" cy="4086808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Adhikari, N.,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"AI Based Framework for Fish Species Classification using Deep Learning and Random Forest," IJCSE, 2023.</a:t>
            </a:r>
          </a:p>
          <a:p>
            <a:pPr marL="4572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Ali, R.,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"Machine Learning with Multistage Classifiers for Mud Crab Species Classification," TELKOMNIKA, 2021.</a:t>
            </a:r>
          </a:p>
          <a:p>
            <a:pPr marL="4572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Cao, S., et al.,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"Real-time Robust Detector for Underwater Live Crabs based on Deep CNN," 2020.</a:t>
            </a:r>
          </a:p>
          <a:p>
            <a:pPr marL="4572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Chen, X., et al.,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"Chinese Mitten Crab Detection and Gender Classification Using Deep Convolutional Neural Networks," 2023.</a:t>
            </a:r>
          </a:p>
          <a:p>
            <a:pPr marL="457200" indent="-457200"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Hossen M.,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"Torrent Sediment Transport Simulation Using Adaptive Neuro Fuzzy Inference System (ANFIS)," 2022</a:t>
            </a:r>
          </a:p>
          <a:p>
            <a:pPr>
              <a:buClr>
                <a:schemeClr val="tx1">
                  <a:lumMod val="50000"/>
                  <a:lumOff val="50000"/>
                </a:schemeClr>
              </a:buClr>
            </a:pPr>
            <a:endParaRPr lang="en-US" sz="2800" dirty="0">
              <a:solidFill>
                <a:schemeClr val="tx1"/>
              </a:solidFill>
            </a:endParaRPr>
          </a:p>
          <a:p>
            <a:pPr>
              <a:buClr>
                <a:schemeClr val="tx1">
                  <a:lumMod val="50000"/>
                  <a:lumOff val="50000"/>
                </a:schemeClr>
              </a:buClr>
            </a:pPr>
            <a:endParaRPr lang="en-US" sz="2800" dirty="0">
              <a:solidFill>
                <a:schemeClr val="tx1"/>
              </a:solidFill>
            </a:endParaRPr>
          </a:p>
          <a:p>
            <a:pPr>
              <a:buClr>
                <a:schemeClr val="tx1">
                  <a:lumMod val="50000"/>
                  <a:lumOff val="50000"/>
                </a:schemeClr>
              </a:buClr>
            </a:pP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52082" y="6119092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23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23167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3D83E8-9BD7-AF47-7BFD-5099FF5E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057" y="6127732"/>
            <a:ext cx="1776498" cy="445003"/>
          </a:xfrm>
        </p:spPr>
        <p:txBody>
          <a:bodyPr>
            <a:normAutofit/>
          </a:bodyPr>
          <a:lstStyle/>
          <a:p>
            <a:r>
              <a:rPr lang="en-US" sz="100" dirty="0"/>
              <a:t>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FF049C-750B-0964-E4AF-863D24BE0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2102" y="839755"/>
            <a:ext cx="11367795" cy="565435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</a:pPr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 startAt="6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 Y.,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"An Effective Feature Learning Approach Using Genetic Programming for Crab Age Classification," 2025.</a:t>
            </a:r>
          </a:p>
          <a:p>
            <a:pPr marL="457200" indent="-457200"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 startAt="6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Kumar S.,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"Machine Learning Applications in Aquatic Species Classification," Marine Tech Journal, 2024. (Added reference)</a:t>
            </a:r>
          </a:p>
          <a:p>
            <a:pPr marL="457200" indent="-457200"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 startAt="6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Luan J.,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"Modeling Spatial Distribution of Portunidae Crabs Using Random Forest and GAM," 2018.</a:t>
            </a:r>
          </a:p>
          <a:p>
            <a:pPr marL="457200" indent="-457200"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 startAt="6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Singh S.K.,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Vishwakarma M., Gupta S., Bhatkhande S., "Crabs Classification Using Machine Learning Algorithms: SVM, Random Forest, and CNN," TIJER, 2024. (Your base paper)</a:t>
            </a:r>
          </a:p>
          <a:p>
            <a:pPr marL="457200" indent="-457200"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 startAt="6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Singh R., Kumar P.,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 Review of Deep Learning Approaches in Marine Biology Classification," Int. J. Computer Science, 2024.</a:t>
            </a:r>
          </a:p>
          <a:p>
            <a:pPr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lr>
                <a:schemeClr val="tx1">
                  <a:lumMod val="50000"/>
                  <a:lumOff val="50000"/>
                </a:schemeClr>
              </a:buClr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41C6F-E30A-7152-3A07-B32C25A0C6DD}"/>
              </a:ext>
            </a:extLst>
          </p:cNvPr>
          <p:cNvSpPr txBox="1"/>
          <p:nvPr/>
        </p:nvSpPr>
        <p:spPr>
          <a:xfrm>
            <a:off x="696028" y="285265"/>
            <a:ext cx="3578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488027" y="6138311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24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50507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65DAB-4285-075A-2042-380C3FE8B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57314" y="-127819"/>
            <a:ext cx="520019" cy="2271251"/>
          </a:xfrm>
        </p:spPr>
        <p:txBody>
          <a:bodyPr>
            <a:normAutofit/>
          </a:bodyPr>
          <a:lstStyle/>
          <a:p>
            <a:r>
              <a:rPr lang="en-US" sz="100" dirty="0"/>
              <a:t>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AFECD-D7BC-0D71-173E-8FEA3A4B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323" y="1116974"/>
            <a:ext cx="10926618" cy="5289515"/>
          </a:xfrm>
        </p:spPr>
        <p:txBody>
          <a:bodyPr>
            <a:noAutofit/>
          </a:bodyPr>
          <a:lstStyle/>
          <a:p>
            <a:pPr marL="457200" indent="-45720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 startAt="11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Ueki Y., et al.,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"Gender Identification of the Horsehair Crab Using Machine Learning Techniques," 2023.</a:t>
            </a:r>
          </a:p>
          <a:p>
            <a:pPr marL="457200" indent="-45720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 startAt="11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Wang X.,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"Remote Sensing in Marine Ecosystem Studies Using Machine Learning," 2023.</a:t>
            </a:r>
          </a:p>
          <a:p>
            <a:pPr marL="457200" indent="-45720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 startAt="11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Wang H.,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"Quality Grading of River Crabs Based on Machine Vision and Genetic Algorithm Optimized BP Neural Network," 2023.</a:t>
            </a:r>
          </a:p>
          <a:p>
            <a:pPr marL="457200" indent="-45720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 startAt="11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Wu C., et al.,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"Part-based Learning Network for Identifying Individual Crabs Using Abdomen Images," Frontiers, 2023.</a:t>
            </a:r>
          </a:p>
          <a:p>
            <a:pPr marL="457200" indent="-45720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 startAt="11"/>
            </a:pPr>
            <a:r>
              <a:rPr lang="en-US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 Y.,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"Crab Molting Identification Using Machine Learning Classifiers: KNN, SVM, RFC," 2023.</a:t>
            </a:r>
          </a:p>
          <a:p>
            <a:pPr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100000"/>
            </a:pP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 startAt="11"/>
            </a:pP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4F963-E950-C54A-F078-3AB8DB15CB37}"/>
              </a:ext>
            </a:extLst>
          </p:cNvPr>
          <p:cNvSpPr txBox="1"/>
          <p:nvPr/>
        </p:nvSpPr>
        <p:spPr>
          <a:xfrm>
            <a:off x="754403" y="191580"/>
            <a:ext cx="27723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18991" y="6223926"/>
            <a:ext cx="683339" cy="365125"/>
          </a:xfrm>
        </p:spPr>
        <p:txBody>
          <a:bodyPr/>
          <a:lstStyle/>
          <a:p>
            <a:fld id="{02B6A74C-A862-4EB8-B7E6-C2FCDF2B6634}" type="slidenum">
              <a:rPr lang="en-US" sz="1000" smtClean="0"/>
              <a:t>25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80274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8F432-DB88-B398-773C-2B9360245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468" y="2677160"/>
            <a:ext cx="6383865" cy="1320800"/>
          </a:xfrm>
        </p:spPr>
        <p:txBody>
          <a:bodyPr>
            <a:normAutofit fontScale="90000"/>
          </a:bodyPr>
          <a:lstStyle/>
          <a:p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Castellar" panose="020A0402060406010301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878974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661</TotalTime>
  <Words>1506</Words>
  <Application>Microsoft Office PowerPoint</Application>
  <PresentationFormat>Widescreen</PresentationFormat>
  <Paragraphs>272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Castellar</vt:lpstr>
      <vt:lpstr>Times New Roman</vt:lpstr>
      <vt:lpstr>Trebuchet MS</vt:lpstr>
      <vt:lpstr>Wingdings</vt:lpstr>
      <vt:lpstr>Wingdings 3</vt:lpstr>
      <vt:lpstr>Facet</vt:lpstr>
      <vt:lpstr>Crab Classification</vt:lpstr>
      <vt:lpstr>Introduction </vt:lpstr>
      <vt:lpstr>Problem Statement </vt:lpstr>
      <vt:lpstr>Objective </vt:lpstr>
      <vt:lpstr>Abstract </vt:lpstr>
      <vt:lpstr>Literature Survey </vt:lpstr>
      <vt:lpstr>Literature Survey </vt:lpstr>
      <vt:lpstr>Literature Survey </vt:lpstr>
      <vt:lpstr>Literature Survey </vt:lpstr>
      <vt:lpstr>Literature Survey </vt:lpstr>
      <vt:lpstr>Drawbacks of Existing Systems </vt:lpstr>
      <vt:lpstr> Proposed Method</vt:lpstr>
      <vt:lpstr>Dataset and Input Features</vt:lpstr>
      <vt:lpstr>Neural Network Architecture</vt:lpstr>
      <vt:lpstr>Block Diagram</vt:lpstr>
      <vt:lpstr>  Description of Block Diagram</vt:lpstr>
      <vt:lpstr>Results and Discussion</vt:lpstr>
      <vt:lpstr>Confusion matrix image</vt:lpstr>
      <vt:lpstr>PowerPoint Presentation</vt:lpstr>
      <vt:lpstr>Advantages</vt:lpstr>
      <vt:lpstr>Conclusion</vt:lpstr>
      <vt:lpstr>Future Scope</vt:lpstr>
      <vt:lpstr>References </vt:lpstr>
      <vt:lpstr>S</vt:lpstr>
      <vt:lpstr>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Crab Species Identification using Neural Network Classifiers</dc:title>
  <dc:creator>Priya Tharshini</dc:creator>
  <cp:lastModifiedBy>Priya Tharshini</cp:lastModifiedBy>
  <cp:revision>15</cp:revision>
  <dcterms:created xsi:type="dcterms:W3CDTF">2025-08-09T17:26:55Z</dcterms:created>
  <dcterms:modified xsi:type="dcterms:W3CDTF">2026-05-14T13:16:21Z</dcterms:modified>
</cp:coreProperties>
</file>